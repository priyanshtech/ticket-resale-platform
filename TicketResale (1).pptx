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10287000" cx="18288000"/>
  <p:notesSz cx="18288000" cy="10287000"/>
  <p:embeddedFontLst>
    <p:embeddedFont>
      <p:font typeface="Raleway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  <p:embeddedFont>
      <p:font typeface="Helvetica Neue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22" Type="http://schemas.openxmlformats.org/officeDocument/2006/relationships/font" Target="fonts/HelveticaNeue-bold.fntdata"/><Relationship Id="rId10" Type="http://schemas.openxmlformats.org/officeDocument/2006/relationships/slide" Target="slides/slide5.xml"/><Relationship Id="rId21" Type="http://schemas.openxmlformats.org/officeDocument/2006/relationships/font" Target="fonts/HelveticaNeue-regular.fntdata"/><Relationship Id="rId13" Type="http://schemas.openxmlformats.org/officeDocument/2006/relationships/font" Target="fonts/Raleway-regular.fntdata"/><Relationship Id="rId24" Type="http://schemas.openxmlformats.org/officeDocument/2006/relationships/font" Target="fonts/HelveticaNeue-boldItalic.fntdata"/><Relationship Id="rId12" Type="http://schemas.openxmlformats.org/officeDocument/2006/relationships/slide" Target="slides/slide7.xml"/><Relationship Id="rId23" Type="http://schemas.openxmlformats.org/officeDocument/2006/relationships/font" Target="fonts/HelveticaNeue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italic.fntdata"/><Relationship Id="rId14" Type="http://schemas.openxmlformats.org/officeDocument/2006/relationships/font" Target="fonts/Raleway-bold.fntdata"/><Relationship Id="rId17" Type="http://schemas.openxmlformats.org/officeDocument/2006/relationships/font" Target="fonts/Lato-regular.fntdata"/><Relationship Id="rId16" Type="http://schemas.openxmlformats.org/officeDocument/2006/relationships/font" Target="fonts/Raleway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b07e24b15_4_5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b07e24b15_4_5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b07e24b15_2_89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bb07e24b15_2_89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b07e24b15_4_9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bb07e24b15_4_9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b07e24b15_3_4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bb07e24b15_3_4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b07e24b15_4_13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bb07e24b15_4_13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b07e24b15_4_19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bb07e24b15_4_19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18288000" cy="975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1660784" y="2382511"/>
            <a:ext cx="1491526" cy="91652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1458900" y="2644900"/>
            <a:ext cx="15376200" cy="3329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1459255" y="6345800"/>
            <a:ext cx="15376200" cy="1082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17072605" y="9499702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1660784" y="2382511"/>
            <a:ext cx="1491526" cy="91652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1458900" y="2644900"/>
            <a:ext cx="15376800" cy="3037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17072605" y="9499702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18288000" cy="97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1660784" y="2382511"/>
            <a:ext cx="1491526" cy="91652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1458900" y="2637300"/>
            <a:ext cx="15377400" cy="1070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1458900" y="4157750"/>
            <a:ext cx="15377400" cy="4522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17072605" y="9499702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18288000" cy="97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1660784" y="2382511"/>
            <a:ext cx="1491526" cy="91652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1458900" y="2637300"/>
            <a:ext cx="15376800" cy="1070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1458650" y="4157750"/>
            <a:ext cx="7548600" cy="4522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9287207" y="4157750"/>
            <a:ext cx="7548600" cy="4522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17072605" y="9499702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18288000" cy="97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1660784" y="2382511"/>
            <a:ext cx="1491526" cy="91652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1458900" y="2637300"/>
            <a:ext cx="15376800" cy="1070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17072605" y="9499702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18288000" cy="97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1660784" y="2382511"/>
            <a:ext cx="1491526" cy="91652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1460000" y="2637300"/>
            <a:ext cx="6601800" cy="27630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1442450" y="5563450"/>
            <a:ext cx="6601800" cy="31950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17072605" y="9499702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1660784" y="8338260"/>
            <a:ext cx="1491526" cy="91652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1458900" y="1728600"/>
            <a:ext cx="14042400" cy="59700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17072605" y="9499702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1660784" y="2382511"/>
            <a:ext cx="1491526" cy="91652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1460000" y="2637300"/>
            <a:ext cx="6601800" cy="3374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1449900" y="6323050"/>
            <a:ext cx="6601800" cy="15180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10348450" y="2705250"/>
            <a:ext cx="6748800" cy="60510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17072605" y="9499702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1449900" y="8745102"/>
            <a:ext cx="15394800" cy="9210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17072605" y="9499702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1660784" y="8338260"/>
            <a:ext cx="1491526" cy="91652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1458900" y="1467900"/>
            <a:ext cx="15376800" cy="2489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1458900" y="4545776"/>
            <a:ext cx="15376800" cy="3160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Char char="●"/>
              <a:defRPr>
                <a:solidFill>
                  <a:schemeClr val="lt1"/>
                </a:solidFill>
              </a:defRPr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17072605" y="9499702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17072605" y="9499702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>
            <a:off x="750728" y="1921141"/>
            <a:ext cx="5223000" cy="10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600"/>
              <a:buNone/>
              <a:defRPr b="0" i="0" sz="3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" type="body"/>
          </p:nvPr>
        </p:nvSpPr>
        <p:spPr>
          <a:xfrm>
            <a:off x="750728" y="3833320"/>
            <a:ext cx="11080200" cy="57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600"/>
              <a:buNone/>
              <a:defRPr b="0" i="0" sz="28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spcBef>
                <a:spcPts val="2400"/>
              </a:spcBef>
              <a:spcAft>
                <a:spcPts val="0"/>
              </a:spcAft>
              <a:buSzPts val="2200"/>
              <a:buNone/>
              <a:defRPr/>
            </a:lvl2pPr>
            <a:lvl3pPr indent="-228600" lvl="2" marL="1371600" algn="l">
              <a:spcBef>
                <a:spcPts val="2400"/>
              </a:spcBef>
              <a:spcAft>
                <a:spcPts val="0"/>
              </a:spcAft>
              <a:buSzPts val="2200"/>
              <a:buNone/>
              <a:defRPr/>
            </a:lvl3pPr>
            <a:lvl4pPr indent="-228600" lvl="3" marL="1828800" algn="l">
              <a:spcBef>
                <a:spcPts val="2400"/>
              </a:spcBef>
              <a:spcAft>
                <a:spcPts val="0"/>
              </a:spcAft>
              <a:buSzPts val="2200"/>
              <a:buNone/>
              <a:defRPr/>
            </a:lvl4pPr>
            <a:lvl5pPr indent="-228600" lvl="4" marL="2286000" algn="l">
              <a:spcBef>
                <a:spcPts val="2400"/>
              </a:spcBef>
              <a:spcAft>
                <a:spcPts val="0"/>
              </a:spcAft>
              <a:buSzPts val="2200"/>
              <a:buNone/>
              <a:defRPr/>
            </a:lvl5pPr>
            <a:lvl6pPr indent="-228600" lvl="5" marL="2743200" algn="l">
              <a:spcBef>
                <a:spcPts val="2400"/>
              </a:spcBef>
              <a:spcAft>
                <a:spcPts val="0"/>
              </a:spcAft>
              <a:buSzPts val="2200"/>
              <a:buNone/>
              <a:defRPr/>
            </a:lvl6pPr>
            <a:lvl7pPr indent="-228600" lvl="6" marL="3200400" algn="l">
              <a:spcBef>
                <a:spcPts val="2400"/>
              </a:spcBef>
              <a:spcAft>
                <a:spcPts val="0"/>
              </a:spcAft>
              <a:buSzPts val="2200"/>
              <a:buNone/>
              <a:defRPr/>
            </a:lvl7pPr>
            <a:lvl8pPr indent="-228600" lvl="7" marL="3657600" algn="l">
              <a:spcBef>
                <a:spcPts val="2400"/>
              </a:spcBef>
              <a:spcAft>
                <a:spcPts val="0"/>
              </a:spcAft>
              <a:buSzPts val="2200"/>
              <a:buNone/>
              <a:defRPr/>
            </a:lvl8pPr>
            <a:lvl9pPr indent="-228600" lvl="8" marL="4114800" algn="l">
              <a:spcBef>
                <a:spcPts val="2400"/>
              </a:spcBef>
              <a:spcAft>
                <a:spcPts val="2400"/>
              </a:spcAft>
              <a:buSzPts val="22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1" type="ftr"/>
          </p:nvPr>
        </p:nvSpPr>
        <p:spPr>
          <a:xfrm>
            <a:off x="6217920" y="9566910"/>
            <a:ext cx="58521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0" type="dt"/>
          </p:nvPr>
        </p:nvSpPr>
        <p:spPr>
          <a:xfrm>
            <a:off x="914400" y="9566910"/>
            <a:ext cx="42063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12" type="sldNum"/>
          </p:nvPr>
        </p:nvSpPr>
        <p:spPr>
          <a:xfrm>
            <a:off x="13167361" y="9566910"/>
            <a:ext cx="420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 txBox="1"/>
          <p:nvPr>
            <p:ph type="ctrTitle"/>
          </p:nvPr>
        </p:nvSpPr>
        <p:spPr>
          <a:xfrm>
            <a:off x="15052459" y="1330430"/>
            <a:ext cx="1542300" cy="4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600"/>
              <a:buNone/>
              <a:defRPr b="0" i="0" sz="3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90" name="Google Shape;90;p14"/>
          <p:cNvSpPr txBox="1"/>
          <p:nvPr>
            <p:ph idx="1" type="subTitle"/>
          </p:nvPr>
        </p:nvSpPr>
        <p:spPr>
          <a:xfrm>
            <a:off x="2743200" y="5760720"/>
            <a:ext cx="12801600" cy="25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600"/>
              <a:buNone/>
              <a:defRPr b="0" i="0" sz="28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spcBef>
                <a:spcPts val="240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spcBef>
                <a:spcPts val="240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spcBef>
                <a:spcPts val="240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spcBef>
                <a:spcPts val="240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spcBef>
                <a:spcPts val="240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spcBef>
                <a:spcPts val="240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spcBef>
                <a:spcPts val="240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spcBef>
                <a:spcPts val="2400"/>
              </a:spcBef>
              <a:spcAft>
                <a:spcPts val="2400"/>
              </a:spcAft>
              <a:buSzPts val="2200"/>
              <a:buNone/>
              <a:defRPr/>
            </a:lvl9pPr>
          </a:lstStyle>
          <a:p/>
        </p:txBody>
      </p:sp>
      <p:sp>
        <p:nvSpPr>
          <p:cNvPr id="91" name="Google Shape;91;p14"/>
          <p:cNvSpPr txBox="1"/>
          <p:nvPr>
            <p:ph idx="11" type="ftr"/>
          </p:nvPr>
        </p:nvSpPr>
        <p:spPr>
          <a:xfrm>
            <a:off x="6217920" y="9566910"/>
            <a:ext cx="58521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4"/>
          <p:cNvSpPr txBox="1"/>
          <p:nvPr>
            <p:ph idx="10" type="dt"/>
          </p:nvPr>
        </p:nvSpPr>
        <p:spPr>
          <a:xfrm>
            <a:off x="914400" y="9566910"/>
            <a:ext cx="42063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4"/>
          <p:cNvSpPr txBox="1"/>
          <p:nvPr>
            <p:ph idx="12" type="sldNum"/>
          </p:nvPr>
        </p:nvSpPr>
        <p:spPr>
          <a:xfrm>
            <a:off x="13167361" y="9566910"/>
            <a:ext cx="420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Raleway"/>
              <a:buNone/>
              <a:defRPr b="1" sz="5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Raleway"/>
              <a:buNone/>
              <a:defRPr b="1" sz="5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Raleway"/>
              <a:buNone/>
              <a:defRPr b="1" sz="5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Raleway"/>
              <a:buNone/>
              <a:defRPr b="1" sz="5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Raleway"/>
              <a:buNone/>
              <a:defRPr b="1" sz="5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Raleway"/>
              <a:buNone/>
              <a:defRPr b="1" sz="5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Raleway"/>
              <a:buNone/>
              <a:defRPr b="1" sz="5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Raleway"/>
              <a:buNone/>
              <a:defRPr b="1" sz="5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Raleway"/>
              <a:buNone/>
              <a:defRPr b="1" sz="5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Lato"/>
              <a:buChar char="●"/>
              <a:defRPr sz="2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683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Lato"/>
              <a:buChar char="○"/>
              <a:defRPr sz="2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683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Lato"/>
              <a:buChar char="■"/>
              <a:defRPr sz="2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683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Lato"/>
              <a:buChar char="●"/>
              <a:defRPr sz="2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683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Lato"/>
              <a:buChar char="○"/>
              <a:defRPr sz="2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683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Lato"/>
              <a:buChar char="■"/>
              <a:defRPr sz="2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683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Lato"/>
              <a:buChar char="●"/>
              <a:defRPr sz="2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683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Lato"/>
              <a:buChar char="○"/>
              <a:defRPr sz="2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683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Lato"/>
              <a:buChar char="■"/>
              <a:defRPr sz="2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7072605" y="9499702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r">
              <a:buNone/>
              <a:defRPr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98" name="Google Shape;9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1438" y="0"/>
            <a:ext cx="18430875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03" name="Google Shape;10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1438" y="0"/>
            <a:ext cx="18430875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08" name="Google Shape;10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1438" y="0"/>
            <a:ext cx="18430875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/>
          <p:nvPr/>
        </p:nvSpPr>
        <p:spPr>
          <a:xfrm>
            <a:off x="747156" y="1921141"/>
            <a:ext cx="6818630" cy="75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75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Tech Stack &amp; Approach</a:t>
            </a:r>
            <a:endParaRPr sz="475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14" name="Google Shape;11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2577" y="433092"/>
            <a:ext cx="3637311" cy="119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8"/>
          <p:cNvSpPr txBox="1"/>
          <p:nvPr/>
        </p:nvSpPr>
        <p:spPr>
          <a:xfrm>
            <a:off x="16883792" y="9076935"/>
            <a:ext cx="431165" cy="459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82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04</a:t>
            </a:r>
            <a:endParaRPr sz="28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6" name="Google Shape;116;p18"/>
          <p:cNvSpPr txBox="1"/>
          <p:nvPr/>
        </p:nvSpPr>
        <p:spPr>
          <a:xfrm>
            <a:off x="7993550" y="2932200"/>
            <a:ext cx="8544600" cy="6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Helvetica Neue"/>
              <a:buAutoNum type="arabicPeriod"/>
            </a:pPr>
            <a:r>
              <a:rPr lang="en-US" sz="2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Execution</a:t>
            </a:r>
            <a:r>
              <a:rPr b="1" lang="en-US" sz="2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Layer</a:t>
            </a:r>
            <a:endParaRPr b="1" sz="2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Helvetica Neue"/>
              <a:buChar char="●"/>
            </a:pPr>
            <a:r>
              <a:rPr lang="en-US" sz="2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Solidity (ERC-721): Tickets as programmable assets with on-chain enforcement of ownership, resale constraints, royalties, and consumption state.</a:t>
            </a:r>
            <a:endParaRPr sz="2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Helvetica Neue"/>
              <a:buAutoNum type="arabicPeriod"/>
            </a:pPr>
            <a:r>
              <a:rPr lang="en-US" sz="2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Settlement &amp; Scalability</a:t>
            </a:r>
            <a:endParaRPr sz="2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Helvetica Neue"/>
              <a:buChar char="●"/>
            </a:pPr>
            <a:r>
              <a:rPr lang="en-US" sz="2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Polygon: High-throughput, low-latency settlement enabling real-time resale and verification with negligible gas overhead.</a:t>
            </a:r>
            <a:endParaRPr sz="2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Helvetica Neue"/>
              <a:buAutoNum type="arabicPeriod"/>
            </a:pPr>
            <a:r>
              <a:rPr lang="en-US" sz="2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Identity &amp; Sybil Resistance</a:t>
            </a:r>
            <a:endParaRPr sz="2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Helvetica Neue"/>
              <a:buChar char="●"/>
            </a:pPr>
            <a:r>
              <a:rPr lang="en-US" sz="2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World ID (ZKP): Proof-of-personhood without identity disclosure to prevent bot-driven scalping and multi-wallet abuse</a:t>
            </a:r>
            <a:endParaRPr sz="2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7" name="Google Shape;117;p18"/>
          <p:cNvSpPr txBox="1"/>
          <p:nvPr/>
        </p:nvSpPr>
        <p:spPr>
          <a:xfrm>
            <a:off x="877800" y="3072275"/>
            <a:ext cx="7311900" cy="60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Tech Stack:</a:t>
            </a:r>
            <a:endParaRPr sz="375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75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Frontend - Next js, Privy</a:t>
            </a:r>
            <a:endParaRPr sz="375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75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On-Chain - Solidity</a:t>
            </a:r>
            <a:endParaRPr sz="375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75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Blockchain - Polygon</a:t>
            </a:r>
            <a:endParaRPr sz="375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75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Backend - Node js, PostgreSQL</a:t>
            </a:r>
            <a:endParaRPr sz="375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22" name="Google Shape;12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1438" y="0"/>
            <a:ext cx="18430875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27" name="Google Shape;12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1438" y="0"/>
            <a:ext cx="18430875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32" name="Google Shape;13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1438" y="0"/>
            <a:ext cx="18430875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